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2" d="100"/>
          <a:sy n="62" d="100"/>
        </p:scale>
        <p:origin x="82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2314595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803933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1152521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0C1573-DA0B-4D0F-8966-60F88E8302FF}"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7104334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0C1573-DA0B-4D0F-8966-60F88E8302FF}" type="datetimeFigureOut">
              <a:rPr lang="en-US" smtClean="0"/>
              <a:t>5/7/2026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25172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0C1573-DA0B-4D0F-8966-60F88E8302FF}" type="datetimeFigureOut">
              <a:rPr lang="en-US" smtClean="0"/>
              <a:t>5/7/2026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459723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0C1573-DA0B-4D0F-8966-60F88E8302FF}" type="datetimeFigureOut">
              <a:rPr lang="en-US" smtClean="0"/>
              <a:t>5/7/2026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762122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80C1573-DA0B-4D0F-8966-60F88E8302FF}"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1506966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0C1573-DA0B-4D0F-8966-60F88E8302FF}" type="datetimeFigureOut">
              <a:rPr lang="en-US" smtClean="0"/>
              <a:t>5/7/2026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136570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766503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602774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13267697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801500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9712291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35250370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0C1573-DA0B-4D0F-8966-60F88E8302FF}" type="datetimeFigureOut">
              <a:rPr lang="en-US" smtClean="0"/>
              <a:t>5/7/2026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66C69A-6622-4E55-9A20-D69537C980D2}" type="slidenum">
              <a:rPr lang="en-US" smtClean="0"/>
              <a:t>‹#›</a:t>
            </a:fld>
            <a:endParaRPr lang="en-US"/>
          </a:p>
        </p:txBody>
      </p:sp>
    </p:spTree>
    <p:extLst>
      <p:ext uri="{BB962C8B-B14F-4D97-AF65-F5344CB8AC3E}">
        <p14:creationId xmlns:p14="http://schemas.microsoft.com/office/powerpoint/2010/main" val="2406583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80C1573-DA0B-4D0F-8966-60F88E8302FF}" type="datetimeFigureOut">
              <a:rPr lang="en-US" smtClean="0"/>
              <a:t>5/7/2026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066C69A-6622-4E55-9A20-D69537C980D2}" type="slidenum">
              <a:rPr lang="en-US" smtClean="0"/>
              <a:t>‹#›</a:t>
            </a:fld>
            <a:endParaRPr lang="en-US"/>
          </a:p>
        </p:txBody>
      </p:sp>
    </p:spTree>
    <p:extLst>
      <p:ext uri="{BB962C8B-B14F-4D97-AF65-F5344CB8AC3E}">
        <p14:creationId xmlns:p14="http://schemas.microsoft.com/office/powerpoint/2010/main" val="1271652115"/>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35EEB-4958-AF99-7DD4-B4912AF0BEF3}"/>
              </a:ext>
            </a:extLst>
          </p:cNvPr>
          <p:cNvSpPr>
            <a:spLocks noGrp="1"/>
          </p:cNvSpPr>
          <p:nvPr>
            <p:ph type="ctrTitle"/>
          </p:nvPr>
        </p:nvSpPr>
        <p:spPr/>
        <p:txBody>
          <a:bodyPr/>
          <a:lstStyle/>
          <a:p>
            <a:r>
              <a:rPr lang="en-US" b="1" dirty="0"/>
              <a:t>AWS KEY MANAGEMENT SERVICES</a:t>
            </a:r>
          </a:p>
        </p:txBody>
      </p:sp>
      <p:sp>
        <p:nvSpPr>
          <p:cNvPr id="3" name="Subtitle 2">
            <a:extLst>
              <a:ext uri="{FF2B5EF4-FFF2-40B4-BE49-F238E27FC236}">
                <a16:creationId xmlns:a16="http://schemas.microsoft.com/office/drawing/2014/main" id="{C761D90B-E7A3-4481-22AB-507D3A507447}"/>
              </a:ext>
            </a:extLst>
          </p:cNvPr>
          <p:cNvSpPr>
            <a:spLocks noGrp="1"/>
          </p:cNvSpPr>
          <p:nvPr>
            <p:ph type="subTitle" idx="1"/>
          </p:nvPr>
        </p:nvSpPr>
        <p:spPr>
          <a:xfrm>
            <a:off x="5352836" y="5147353"/>
            <a:ext cx="4119937" cy="1325365"/>
          </a:xfrm>
        </p:spPr>
        <p:txBody>
          <a:bodyPr/>
          <a:lstStyle/>
          <a:p>
            <a:r>
              <a:rPr lang="en-US" b="1" dirty="0"/>
              <a:t>MANISHA AKKAPALLY</a:t>
            </a:r>
          </a:p>
        </p:txBody>
      </p:sp>
    </p:spTree>
    <p:extLst>
      <p:ext uri="{BB962C8B-B14F-4D97-AF65-F5344CB8AC3E}">
        <p14:creationId xmlns:p14="http://schemas.microsoft.com/office/powerpoint/2010/main" val="2917224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2CF2-9031-E3FC-1EEC-1C65FCA9B411}"/>
              </a:ext>
            </a:extLst>
          </p:cNvPr>
          <p:cNvSpPr>
            <a:spLocks noGrp="1"/>
          </p:cNvSpPr>
          <p:nvPr>
            <p:ph type="title"/>
          </p:nvPr>
        </p:nvSpPr>
        <p:spPr/>
        <p:txBody>
          <a:bodyPr/>
          <a:lstStyle/>
          <a:p>
            <a:r>
              <a:rPr lang="en-US" b="1" dirty="0"/>
              <a:t>AGENDA</a:t>
            </a:r>
          </a:p>
        </p:txBody>
      </p:sp>
      <p:sp>
        <p:nvSpPr>
          <p:cNvPr id="3" name="Content Placeholder 2">
            <a:extLst>
              <a:ext uri="{FF2B5EF4-FFF2-40B4-BE49-F238E27FC236}">
                <a16:creationId xmlns:a16="http://schemas.microsoft.com/office/drawing/2014/main" id="{21150459-495A-4073-4576-09422230F86E}"/>
              </a:ext>
            </a:extLst>
          </p:cNvPr>
          <p:cNvSpPr>
            <a:spLocks noGrp="1"/>
          </p:cNvSpPr>
          <p:nvPr>
            <p:ph idx="1"/>
          </p:nvPr>
        </p:nvSpPr>
        <p:spPr/>
        <p:txBody>
          <a:bodyPr/>
          <a:lstStyle/>
          <a:p>
            <a:r>
              <a:rPr lang="en-US" dirty="0"/>
              <a:t>Introduction to AWS KMS</a:t>
            </a:r>
          </a:p>
          <a:p>
            <a:r>
              <a:rPr lang="en-US" dirty="0"/>
              <a:t>Use Case</a:t>
            </a:r>
          </a:p>
          <a:p>
            <a:r>
              <a:rPr lang="en-US" dirty="0"/>
              <a:t>Architecture Flow</a:t>
            </a:r>
          </a:p>
          <a:p>
            <a:r>
              <a:rPr lang="en-US" dirty="0"/>
              <a:t>AWS Services Used</a:t>
            </a:r>
          </a:p>
          <a:p>
            <a:r>
              <a:rPr lang="en-US" dirty="0"/>
              <a:t>Implementation Steps</a:t>
            </a:r>
          </a:p>
          <a:p>
            <a:r>
              <a:rPr lang="en-US" dirty="0"/>
              <a:t>Live Demo Execution</a:t>
            </a:r>
          </a:p>
          <a:p>
            <a:r>
              <a:rPr lang="en-US" dirty="0"/>
              <a:t>Security Benefits</a:t>
            </a:r>
          </a:p>
          <a:p>
            <a:r>
              <a:rPr lang="en-US" dirty="0"/>
              <a:t>Conclusion</a:t>
            </a:r>
          </a:p>
        </p:txBody>
      </p:sp>
    </p:spTree>
    <p:extLst>
      <p:ext uri="{BB962C8B-B14F-4D97-AF65-F5344CB8AC3E}">
        <p14:creationId xmlns:p14="http://schemas.microsoft.com/office/powerpoint/2010/main" val="18119255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433E3-B3C7-CD07-3E4D-1128CB192EBD}"/>
              </a:ext>
            </a:extLst>
          </p:cNvPr>
          <p:cNvSpPr>
            <a:spLocks noGrp="1"/>
          </p:cNvSpPr>
          <p:nvPr>
            <p:ph type="title"/>
          </p:nvPr>
        </p:nvSpPr>
        <p:spPr/>
        <p:txBody>
          <a:bodyPr/>
          <a:lstStyle/>
          <a:p>
            <a:r>
              <a:rPr lang="en-US" dirty="0"/>
              <a:t>What is AWS KMS ?</a:t>
            </a:r>
          </a:p>
        </p:txBody>
      </p:sp>
      <p:sp>
        <p:nvSpPr>
          <p:cNvPr id="3" name="Content Placeholder 2">
            <a:extLst>
              <a:ext uri="{FF2B5EF4-FFF2-40B4-BE49-F238E27FC236}">
                <a16:creationId xmlns:a16="http://schemas.microsoft.com/office/drawing/2014/main" id="{31780459-EBB3-AB54-3525-16E9B8BE80C0}"/>
              </a:ext>
            </a:extLst>
          </p:cNvPr>
          <p:cNvSpPr>
            <a:spLocks noGrp="1"/>
          </p:cNvSpPr>
          <p:nvPr>
            <p:ph idx="1"/>
          </p:nvPr>
        </p:nvSpPr>
        <p:spPr/>
        <p:txBody>
          <a:bodyPr/>
          <a:lstStyle/>
          <a:p>
            <a:r>
              <a:rPr lang="en-US" dirty="0"/>
              <a:t>AWS KMS (Key Management Service) is a managed AWS service used to create and manage encryption keys for protecting sensitive data.</a:t>
            </a:r>
          </a:p>
          <a:p>
            <a:r>
              <a:rPr lang="en-US" dirty="0"/>
              <a:t>AWS KMS simplifies encryption management by securely integrating with multiple AWS services such as:</a:t>
            </a:r>
          </a:p>
          <a:p>
            <a:r>
              <a:rPr lang="en-US" dirty="0"/>
              <a:t>Amazon S3 </a:t>
            </a:r>
          </a:p>
          <a:p>
            <a:r>
              <a:rPr lang="en-US" dirty="0"/>
              <a:t>Amazon RDS </a:t>
            </a:r>
          </a:p>
          <a:p>
            <a:r>
              <a:rPr lang="en-US" dirty="0"/>
              <a:t>Amazon EBS </a:t>
            </a:r>
          </a:p>
          <a:p>
            <a:r>
              <a:rPr lang="en-US" dirty="0"/>
              <a:t>AWS Lambda </a:t>
            </a:r>
          </a:p>
          <a:p>
            <a:r>
              <a:rPr lang="en-US" dirty="0"/>
              <a:t>AWS Secrets Manager</a:t>
            </a:r>
          </a:p>
          <a:p>
            <a:endParaRPr lang="en-US" dirty="0"/>
          </a:p>
        </p:txBody>
      </p:sp>
    </p:spTree>
    <p:extLst>
      <p:ext uri="{BB962C8B-B14F-4D97-AF65-F5344CB8AC3E}">
        <p14:creationId xmlns:p14="http://schemas.microsoft.com/office/powerpoint/2010/main" val="2925751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7C7D5E-1EF1-1315-CC67-A62E71C8CF84}"/>
              </a:ext>
            </a:extLst>
          </p:cNvPr>
          <p:cNvSpPr>
            <a:spLocks noGrp="1"/>
          </p:cNvSpPr>
          <p:nvPr>
            <p:ph type="title"/>
          </p:nvPr>
        </p:nvSpPr>
        <p:spPr/>
        <p:txBody>
          <a:bodyPr/>
          <a:lstStyle/>
          <a:p>
            <a:r>
              <a:rPr lang="en-US" b="1" dirty="0"/>
              <a:t>Key Features</a:t>
            </a:r>
            <a:br>
              <a:rPr lang="en-US" b="1" dirty="0"/>
            </a:br>
            <a:endParaRPr lang="en-US" dirty="0"/>
          </a:p>
        </p:txBody>
      </p:sp>
      <p:sp>
        <p:nvSpPr>
          <p:cNvPr id="3" name="Content Placeholder 2">
            <a:extLst>
              <a:ext uri="{FF2B5EF4-FFF2-40B4-BE49-F238E27FC236}">
                <a16:creationId xmlns:a16="http://schemas.microsoft.com/office/drawing/2014/main" id="{CD0C3AEE-4141-D64B-3500-243D8E54227D}"/>
              </a:ext>
            </a:extLst>
          </p:cNvPr>
          <p:cNvSpPr>
            <a:spLocks noGrp="1"/>
          </p:cNvSpPr>
          <p:nvPr>
            <p:ph idx="1"/>
          </p:nvPr>
        </p:nvSpPr>
        <p:spPr>
          <a:xfrm>
            <a:off x="838200" y="1304818"/>
            <a:ext cx="10515600" cy="4872145"/>
          </a:xfrm>
        </p:spPr>
        <p:txBody>
          <a:bodyPr/>
          <a:lstStyle/>
          <a:p>
            <a:r>
              <a:rPr lang="en-US" b="1" dirty="0"/>
              <a:t>Centralized Key Management : </a:t>
            </a:r>
            <a:r>
              <a:rPr lang="en-US" dirty="0"/>
              <a:t>Manage all encryption keys from a single AWS service.</a:t>
            </a:r>
          </a:p>
          <a:p>
            <a:r>
              <a:rPr lang="en-US" b="1" dirty="0"/>
              <a:t>Data Encryption : </a:t>
            </a:r>
            <a:r>
              <a:rPr lang="en-US" dirty="0"/>
              <a:t>Encrypt sensitive customer data and files securely.</a:t>
            </a:r>
          </a:p>
          <a:p>
            <a:r>
              <a:rPr lang="en-US" b="1" dirty="0"/>
              <a:t>IAM Integration : </a:t>
            </a:r>
            <a:r>
              <a:rPr lang="en-US" dirty="0"/>
              <a:t>Control who can access and use encryption keys.</a:t>
            </a:r>
          </a:p>
          <a:p>
            <a:r>
              <a:rPr lang="en-US" b="1" dirty="0"/>
              <a:t>Automatic Key Rotation : </a:t>
            </a:r>
            <a:r>
              <a:rPr lang="en-US" dirty="0"/>
              <a:t>AWS can automatically rotate keys for improved security.</a:t>
            </a:r>
          </a:p>
          <a:p>
            <a:r>
              <a:rPr lang="en-US" b="1" dirty="0"/>
              <a:t>Audit &amp; Monitoring : </a:t>
            </a:r>
            <a:r>
              <a:rPr lang="en-US" dirty="0"/>
              <a:t>Track key usage using AWS CloudTrail.</a:t>
            </a:r>
          </a:p>
          <a:p>
            <a:r>
              <a:rPr lang="en-US" b="1" dirty="0"/>
              <a:t>AWS Service Integration : </a:t>
            </a:r>
            <a:r>
              <a:rPr lang="en-US" dirty="0"/>
              <a:t>Works seamlessly with AWS storage, database, and compute services.</a:t>
            </a:r>
            <a:endParaRPr lang="en-US" b="1" dirty="0"/>
          </a:p>
        </p:txBody>
      </p:sp>
    </p:spTree>
    <p:extLst>
      <p:ext uri="{BB962C8B-B14F-4D97-AF65-F5344CB8AC3E}">
        <p14:creationId xmlns:p14="http://schemas.microsoft.com/office/powerpoint/2010/main" val="2867204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3FE789-71D6-91F7-384C-8B1B16125E31}"/>
              </a:ext>
            </a:extLst>
          </p:cNvPr>
          <p:cNvSpPr>
            <a:spLocks noGrp="1"/>
          </p:cNvSpPr>
          <p:nvPr>
            <p:ph type="title"/>
          </p:nvPr>
        </p:nvSpPr>
        <p:spPr/>
        <p:txBody>
          <a:bodyPr/>
          <a:lstStyle/>
          <a:p>
            <a:r>
              <a:rPr lang="en-US" b="1" dirty="0"/>
              <a:t>Types of Keys in AWS KMS</a:t>
            </a:r>
          </a:p>
        </p:txBody>
      </p:sp>
      <p:sp>
        <p:nvSpPr>
          <p:cNvPr id="3" name="Content Placeholder 2">
            <a:extLst>
              <a:ext uri="{FF2B5EF4-FFF2-40B4-BE49-F238E27FC236}">
                <a16:creationId xmlns:a16="http://schemas.microsoft.com/office/drawing/2014/main" id="{079EBB31-E211-D0F1-52F3-83647E3BE9E0}"/>
              </a:ext>
            </a:extLst>
          </p:cNvPr>
          <p:cNvSpPr>
            <a:spLocks noGrp="1"/>
          </p:cNvSpPr>
          <p:nvPr>
            <p:ph idx="1"/>
          </p:nvPr>
        </p:nvSpPr>
        <p:spPr/>
        <p:txBody>
          <a:bodyPr/>
          <a:lstStyle/>
          <a:p>
            <a:r>
              <a:rPr lang="en-US" b="1" dirty="0"/>
              <a:t>AWS Managed Keys :</a:t>
            </a:r>
          </a:p>
          <a:p>
            <a:pPr marL="0" indent="0">
              <a:buNone/>
            </a:pPr>
            <a:r>
              <a:rPr lang="en-US" dirty="0"/>
              <a:t> Created and managed automatically by AWS.</a:t>
            </a:r>
          </a:p>
          <a:p>
            <a:r>
              <a:rPr lang="en-US" b="1" dirty="0"/>
              <a:t>Customer Managed Keys (CMK) :</a:t>
            </a:r>
          </a:p>
          <a:p>
            <a:pPr marL="0" indent="0">
              <a:buNone/>
            </a:pPr>
            <a:r>
              <a:rPr lang="en-US" dirty="0"/>
              <a:t> Created and controlled by customers for custom permissions and policies.</a:t>
            </a:r>
          </a:p>
          <a:p>
            <a:r>
              <a:rPr lang="en-US" b="1" dirty="0"/>
              <a:t>Imported Keys :</a:t>
            </a:r>
          </a:p>
          <a:p>
            <a:pPr marL="0" indent="0">
              <a:buNone/>
            </a:pPr>
            <a:r>
              <a:rPr lang="en-US" dirty="0"/>
              <a:t> Customers can import their own encryption keys into AWS KMS.</a:t>
            </a:r>
          </a:p>
          <a:p>
            <a:endParaRPr lang="en-US" dirty="0"/>
          </a:p>
          <a:p>
            <a:pPr marL="0" indent="0">
              <a:buNone/>
            </a:pPr>
            <a:endParaRPr lang="en-US" dirty="0"/>
          </a:p>
        </p:txBody>
      </p:sp>
    </p:spTree>
    <p:extLst>
      <p:ext uri="{BB962C8B-B14F-4D97-AF65-F5344CB8AC3E}">
        <p14:creationId xmlns:p14="http://schemas.microsoft.com/office/powerpoint/2010/main" val="3842975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29B3A-C783-8902-9663-CD302ED1BAFE}"/>
              </a:ext>
            </a:extLst>
          </p:cNvPr>
          <p:cNvSpPr>
            <a:spLocks noGrp="1"/>
          </p:cNvSpPr>
          <p:nvPr>
            <p:ph type="title"/>
          </p:nvPr>
        </p:nvSpPr>
        <p:spPr/>
        <p:txBody>
          <a:bodyPr/>
          <a:lstStyle/>
          <a:p>
            <a:r>
              <a:rPr lang="en-US" b="1" dirty="0"/>
              <a:t>Benefits of AWS KMS</a:t>
            </a:r>
          </a:p>
        </p:txBody>
      </p:sp>
      <p:sp>
        <p:nvSpPr>
          <p:cNvPr id="6" name="Content Placeholder 5">
            <a:extLst>
              <a:ext uri="{FF2B5EF4-FFF2-40B4-BE49-F238E27FC236}">
                <a16:creationId xmlns:a16="http://schemas.microsoft.com/office/drawing/2014/main" id="{3395580B-A874-041D-5C86-888276AB4DCF}"/>
              </a:ext>
            </a:extLst>
          </p:cNvPr>
          <p:cNvSpPr>
            <a:spLocks noGrp="1"/>
          </p:cNvSpPr>
          <p:nvPr>
            <p:ph idx="1"/>
          </p:nvPr>
        </p:nvSpPr>
        <p:spPr/>
        <p:txBody>
          <a:bodyPr/>
          <a:lstStyle/>
          <a:p>
            <a:r>
              <a:rPr lang="en-US" dirty="0"/>
              <a:t>Improved data security</a:t>
            </a:r>
          </a:p>
          <a:p>
            <a:r>
              <a:rPr lang="en-US" dirty="0"/>
              <a:t>Simplified encryption management</a:t>
            </a:r>
          </a:p>
          <a:p>
            <a:r>
              <a:rPr lang="en-US" dirty="0"/>
              <a:t>Regulatory compliance support</a:t>
            </a:r>
          </a:p>
          <a:p>
            <a:r>
              <a:rPr lang="en-US" dirty="0"/>
              <a:t>Secure access control</a:t>
            </a:r>
          </a:p>
          <a:p>
            <a:r>
              <a:rPr lang="en-US" dirty="0"/>
              <a:t>Reduced operational overhead</a:t>
            </a:r>
          </a:p>
        </p:txBody>
      </p:sp>
    </p:spTree>
    <p:extLst>
      <p:ext uri="{BB962C8B-B14F-4D97-AF65-F5344CB8AC3E}">
        <p14:creationId xmlns:p14="http://schemas.microsoft.com/office/powerpoint/2010/main" val="4066120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690E4-8CB2-59A0-1603-F1C913CD6A47}"/>
              </a:ext>
            </a:extLst>
          </p:cNvPr>
          <p:cNvSpPr>
            <a:spLocks noGrp="1"/>
          </p:cNvSpPr>
          <p:nvPr>
            <p:ph type="title"/>
          </p:nvPr>
        </p:nvSpPr>
        <p:spPr/>
        <p:txBody>
          <a:bodyPr/>
          <a:lstStyle/>
          <a:p>
            <a:r>
              <a:rPr lang="en-US" b="1" dirty="0"/>
              <a:t>Why use AWS KMS?</a:t>
            </a:r>
            <a:br>
              <a:rPr lang="en-US" b="1" dirty="0"/>
            </a:br>
            <a:endParaRPr lang="en-US" dirty="0"/>
          </a:p>
        </p:txBody>
      </p:sp>
      <p:pic>
        <p:nvPicPr>
          <p:cNvPr id="2050" name="Picture 2" descr="Root key protect the data keys that protect your data">
            <a:extLst>
              <a:ext uri="{FF2B5EF4-FFF2-40B4-BE49-F238E27FC236}">
                <a16:creationId xmlns:a16="http://schemas.microsoft.com/office/drawing/2014/main" id="{49C80812-4D47-F2AE-D877-12B02C669D0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41816" y="2358507"/>
            <a:ext cx="7958255" cy="2881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3347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67F202-ECD2-60B4-6A6A-6DC74CC7F416}"/>
              </a:ext>
            </a:extLst>
          </p:cNvPr>
          <p:cNvSpPr>
            <a:spLocks noGrp="1"/>
          </p:cNvSpPr>
          <p:nvPr>
            <p:ph idx="1"/>
          </p:nvPr>
        </p:nvSpPr>
        <p:spPr>
          <a:xfrm>
            <a:off x="622442" y="109655"/>
            <a:ext cx="10515600" cy="7171993"/>
          </a:xfrm>
        </p:spPr>
        <p:txBody>
          <a:bodyPr/>
          <a:lstStyle/>
          <a:p>
            <a:r>
              <a:rPr lang="en-US" dirty="0"/>
              <a:t>When you encrypt data, you need to protect your encryption key. If you encrypt your key, you need to protect its encryption key.</a:t>
            </a:r>
          </a:p>
          <a:p>
            <a:r>
              <a:rPr lang="en-US" dirty="0"/>
              <a:t>Eventually, you must protect the highest level encryption key (known as a </a:t>
            </a:r>
            <a:r>
              <a:rPr lang="en-US" i="1" dirty="0"/>
              <a:t>root key</a:t>
            </a:r>
            <a:r>
              <a:rPr lang="en-US" dirty="0"/>
              <a:t>) in the hierarchy that protects your data. That's where AWS KMS comes in.</a:t>
            </a:r>
          </a:p>
          <a:p>
            <a:r>
              <a:rPr lang="en-US" dirty="0"/>
              <a:t>AWS KMS protects your root keys. KMS keys are created, managed, used, and deleted entirely within AWS KMS. They never leave the service unencrypted. To use or manage your KMS keys, you call AWS KMS.</a:t>
            </a:r>
          </a:p>
          <a:p>
            <a:pPr marL="0" indent="0">
              <a:buNone/>
            </a:pPr>
            <a:br>
              <a:rPr lang="en-US" dirty="0"/>
            </a:br>
            <a:endParaRPr lang="en-US" dirty="0"/>
          </a:p>
        </p:txBody>
      </p:sp>
      <p:pic>
        <p:nvPicPr>
          <p:cNvPr id="3074" name="Picture 2" descr="AWS KMS protects your root keys">
            <a:extLst>
              <a:ext uri="{FF2B5EF4-FFF2-40B4-BE49-F238E27FC236}">
                <a16:creationId xmlns:a16="http://schemas.microsoft.com/office/drawing/2014/main" id="{8ADDA9C1-AB49-D502-8852-9E92F3202A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34798" y="4150759"/>
            <a:ext cx="5838825" cy="23014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4749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CA0B5-FE62-F852-F7DF-3FE478D6FA0E}"/>
              </a:ext>
            </a:extLst>
          </p:cNvPr>
          <p:cNvSpPr>
            <a:spLocks noGrp="1"/>
          </p:cNvSpPr>
          <p:nvPr>
            <p:ph type="title"/>
          </p:nvPr>
        </p:nvSpPr>
        <p:spPr/>
        <p:txBody>
          <a:bodyPr/>
          <a:lstStyle/>
          <a:p>
            <a:r>
              <a:rPr lang="en-US" b="1" dirty="0"/>
              <a:t>How AWS KMS Works</a:t>
            </a:r>
          </a:p>
        </p:txBody>
      </p:sp>
      <p:sp>
        <p:nvSpPr>
          <p:cNvPr id="3" name="Content Placeholder 2">
            <a:extLst>
              <a:ext uri="{FF2B5EF4-FFF2-40B4-BE49-F238E27FC236}">
                <a16:creationId xmlns:a16="http://schemas.microsoft.com/office/drawing/2014/main" id="{FDBBA87D-6CE5-0C2B-EA87-7E6BBD3771EB}"/>
              </a:ext>
            </a:extLst>
          </p:cNvPr>
          <p:cNvSpPr>
            <a:spLocks noGrp="1"/>
          </p:cNvSpPr>
          <p:nvPr>
            <p:ph idx="1"/>
          </p:nvPr>
        </p:nvSpPr>
        <p:spPr/>
        <p:txBody>
          <a:bodyPr/>
          <a:lstStyle/>
          <a:p>
            <a:r>
              <a:rPr lang="en-US" b="1" dirty="0"/>
              <a:t>Use Case : </a:t>
            </a:r>
            <a:r>
              <a:rPr lang="en-US" dirty="0"/>
              <a:t>AWS KMS uses envelope encryption to securely protect sensitive data.</a:t>
            </a:r>
          </a:p>
          <a:p>
            <a:pPr marL="0" indent="0">
              <a:buNone/>
            </a:pPr>
            <a:r>
              <a:rPr lang="en-US" dirty="0"/>
              <a:t>When a user uploads a file:</a:t>
            </a:r>
          </a:p>
          <a:p>
            <a:pPr marL="514350" indent="-514350">
              <a:buAutoNum type="arabicPeriod"/>
            </a:pPr>
            <a:r>
              <a:rPr lang="en-US" dirty="0"/>
              <a:t>AWS KMS generates a data encryption key.</a:t>
            </a:r>
          </a:p>
          <a:p>
            <a:pPr marL="514350" indent="-514350">
              <a:buAutoNum type="arabicPeriod"/>
            </a:pPr>
            <a:r>
              <a:rPr lang="en-US" dirty="0"/>
              <a:t>The file is encrypted using the data key.</a:t>
            </a:r>
          </a:p>
          <a:p>
            <a:pPr marL="514350" indent="-514350">
              <a:buAutoNum type="arabicPeriod"/>
            </a:pPr>
            <a:r>
              <a:rPr lang="en-US" dirty="0"/>
              <a:t>The data key itself is encrypted using the KMS master key.</a:t>
            </a:r>
          </a:p>
          <a:p>
            <a:pPr marL="514350" indent="-514350">
              <a:buAutoNum type="arabicPeriod"/>
            </a:pPr>
            <a:r>
              <a:rPr lang="en-US" dirty="0"/>
              <a:t>Both encrypted data and encrypted data key are stored securely.</a:t>
            </a:r>
          </a:p>
          <a:p>
            <a:pPr marL="514350" indent="-514350">
              <a:buAutoNum type="arabicPeriod"/>
            </a:pPr>
            <a:r>
              <a:rPr lang="en-US" dirty="0"/>
              <a:t>Authorized users with KMS permissions can decrypt and access the file.</a:t>
            </a:r>
          </a:p>
        </p:txBody>
      </p:sp>
    </p:spTree>
    <p:extLst>
      <p:ext uri="{BB962C8B-B14F-4D97-AF65-F5344CB8AC3E}">
        <p14:creationId xmlns:p14="http://schemas.microsoft.com/office/powerpoint/2010/main" val="1214009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C976E611-C171-E410-4603-267388F77C3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79479" y="1489753"/>
            <a:ext cx="8106310" cy="40582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595724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TotalTime>
  <Words>418</Words>
  <Application>Microsoft Office PowerPoint</Application>
  <PresentationFormat>Widescreen</PresentationFormat>
  <Paragraphs>52</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Trebuchet MS</vt:lpstr>
      <vt:lpstr>Wingdings 3</vt:lpstr>
      <vt:lpstr>Facet</vt:lpstr>
      <vt:lpstr>AWS KEY MANAGEMENT SERVICES</vt:lpstr>
      <vt:lpstr>AGENDA</vt:lpstr>
      <vt:lpstr>What is AWS KMS ?</vt:lpstr>
      <vt:lpstr>Key Features </vt:lpstr>
      <vt:lpstr>Types of Keys in AWS KMS</vt:lpstr>
      <vt:lpstr>Benefits of AWS KMS</vt:lpstr>
      <vt:lpstr>Why use AWS KMS? </vt:lpstr>
      <vt:lpstr>PowerPoint Presentation</vt:lpstr>
      <vt:lpstr>How AWS KMS Works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Akkapally, Manisha (Student)</dc:creator>
  <cp:lastModifiedBy>Akkapally, Manisha (Student)</cp:lastModifiedBy>
  <cp:revision>1</cp:revision>
  <dcterms:created xsi:type="dcterms:W3CDTF">2026-05-07T06:15:31Z</dcterms:created>
  <dcterms:modified xsi:type="dcterms:W3CDTF">2026-05-07T06:27:21Z</dcterms:modified>
</cp:coreProperties>
</file>